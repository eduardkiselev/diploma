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34825F5-8BAB-4179-BAD5-FFCC364F90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BF24CDF-C740-49D8-8292-33B61D35D0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A41178F-4D85-4923-9864-4014805FB3D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FCE2ADC-C662-4862-B9AC-3FFF8228F5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653EAFE-3299-4653-81BA-E3FFEC821A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E0A79F2-7045-4BD1-ABBB-56EF6E578A7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/>
          </p:nvPr>
        </p:nvSpPr>
        <p:spPr>
          <a:xfrm>
            <a:off x="467388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A0F3FA4-235A-4DA9-A3FE-30FFACC1143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7E21554-0C43-4712-9789-E562625927C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3823EB3-0B8C-43AD-A659-F0A0BD70927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5C3DCE0-57E0-4A96-97C2-92D12D6C13A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BE42FFD-2128-4C84-8C0F-2072BE38D57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E2916AE-AAA5-48D9-A4F9-606588B29F9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0E65BB6-B07C-414D-9328-35CB30C8419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title text </a:t>
            </a: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3541651-DA46-4422-A935-84B2C10D927A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ru-RU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ru-RU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E49F8727-45B2-4E35-916D-B573B1A9DE0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453F429-5296-49E8-84C5-A76C05BE635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AB9D193-BF00-4D1D-85CD-CC4C85CFC84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49EB54F-51CE-4FC7-A7BB-2BE12A00197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440" cy="452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312AA76A-4E66-40F3-95A3-C56B6321861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4CD520DF-0717-4DC6-8D9C-4C1F7395384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3538677-2762-4C38-92B4-0E3DBEE982A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AA35536B-072A-474C-BB0D-0BA23787960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C6770F2-5949-4079-81DC-B7F9DF599D4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99A1C1E-8FDD-407A-8FB7-948D8A3956B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ru-RU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ru-RU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3600" spc="-1" strike="noStrike">
                <a:solidFill>
                  <a:schemeClr val="dk1"/>
                </a:solidFill>
                <a:latin typeface="Calibri"/>
              </a:rPr>
              <a:t>Разработка методов CV для задач оперативной классификации и детектирования продуктов производства</a:t>
            </a:r>
            <a:endParaRPr b="0" lang="ru-RU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subTitle"/>
          </p:nvPr>
        </p:nvSpPr>
        <p:spPr>
          <a:xfrm>
            <a:off x="4343400" y="5029200"/>
            <a:ext cx="3428280" cy="608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algn="l" pos="0"/>
              </a:tabLst>
            </a:pPr>
            <a:r>
              <a:rPr b="0" lang="ru-RU" sz="3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Киселев Эдуард</a:t>
            </a:r>
            <a:endParaRPr b="0" lang="ru-RU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pc="-1" strike="noStrike">
                <a:solidFill>
                  <a:schemeClr val="dk1"/>
                </a:solidFill>
                <a:latin typeface="Calibri"/>
              </a:rPr>
              <a:t>Актуальность и проблематика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457200" y="164664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На средних производствах (до 1000 чел.) визуальный контроль и учет 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выполняются вручную.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Контроль изделий на промежуточных этапах, контроль потока в производстве 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и учёт межоперационных запасов — это значительный объём работ, который 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выполняют сотрудники, не занятые непосредственно в производстве.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По оценкам предприятия, на такие кадры может приходиться до 25–30% 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фонда оплаты труда.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Текучка кадров – обучение нового человека требует времени. Человек, 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который плохо знаком с технологией, совершает повышенное количество </a:t>
            </a: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ошибок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</a:pP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  <a:p>
            <a:pPr marL="864000" indent="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ru-RU" sz="10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pc="-1" strike="noStrike">
                <a:solidFill>
                  <a:schemeClr val="dk1"/>
                </a:solidFill>
                <a:latin typeface="Calibri"/>
              </a:rPr>
              <a:t>Актуальность и проблематика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ru-RU" sz="1800" spc="-1" strike="noStrike">
                <a:solidFill>
                  <a:schemeClr val="dk1"/>
                </a:solidFill>
                <a:latin typeface="Calibri"/>
              </a:rPr>
              <a:t>Потенциал CV: автоматизация контроля качества, учета запасов и т.д.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Визуальный контроль качества → задача обнаружения аномалий и дефектов (anomaly 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detection, defect detection).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Учёт изделий на промежуточных этапах → задача детектирования, классификации и 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подсчёта объектов.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Контроль потока в цехе, соблюдение принципа FIFO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Фиксация выполнения промежуточных операций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743040" indent="0" defTabSz="4572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marL="743040" indent="0" defTabSz="4572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ru-RU" sz="15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r>
              <a:rPr b="1" lang="ru-RU" sz="1800" spc="-1" strike="noStrike">
                <a:solidFill>
                  <a:schemeClr val="dk1"/>
                </a:solidFill>
                <a:latin typeface="Calibri"/>
              </a:rPr>
              <a:t>Барьеры внедрения: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Отсутствие готовых коробочных решений.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Отсутствие размеченных данных.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algn="just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Сложные условия: рабочие места не подготовлены для CV – освещение, запыленность, </a:t>
            </a: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устоявщийся технологический процесс в который плохо встраивается CV.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algn="l" pos="0"/>
              </a:tabLst>
            </a:pPr>
            <a:r>
              <a:rPr b="0" lang="ru-RU" sz="1600" spc="-1" strike="noStrike">
                <a:solidFill>
                  <a:schemeClr val="dk1"/>
                </a:solidFill>
                <a:latin typeface="Calibri"/>
              </a:rPr>
              <a:t>Необходима адаптация рабочих мест под CV с оценкой экономики.</a:t>
            </a: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ru-RU" sz="4000" spc="-1" strike="noStrike">
                <a:solidFill>
                  <a:schemeClr val="dk1"/>
                </a:solidFill>
                <a:latin typeface="Calibri"/>
                <a:ea typeface="Noto Sans CJK SC"/>
              </a:rPr>
              <a:t>Потенциальные задачи CV. </a:t>
            </a:r>
            <a:r>
              <a:rPr b="0" lang="ru-RU" sz="4000" spc="-1" strike="noStrike">
                <a:solidFill>
                  <a:schemeClr val="dk1"/>
                </a:solidFill>
                <a:latin typeface="Calibri"/>
              </a:rPr>
              <a:t>Детектирование дефектов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Аттестация продукции на наличие дефектов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Возможные трудности: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Дефекты 1–2 мм при размере изделия 700 мм (нужно ~25 Мп).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Риск размытости при скорости конвейера 1 м/с 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Блики на изделиях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743040" indent="0" defTabSz="4572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4" name="" descr=""/>
          <p:cNvPicPr/>
          <p:nvPr/>
        </p:nvPicPr>
        <p:blipFill>
          <a:blip r:embed="rId1"/>
          <a:stretch/>
        </p:blipFill>
        <p:spPr>
          <a:xfrm>
            <a:off x="1600200" y="3328560"/>
            <a:ext cx="5486400" cy="3072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ru-RU" sz="4000" spc="-1" strike="noStrike">
                <a:solidFill>
                  <a:schemeClr val="dk1"/>
                </a:solidFill>
                <a:latin typeface="Calibri"/>
                <a:ea typeface="Noto Sans CJK SC"/>
              </a:rPr>
              <a:t>Потенциальные задачи CV. </a:t>
            </a:r>
            <a:br>
              <a:rPr sz="4000"/>
            </a:br>
            <a:r>
              <a:rPr b="0" lang="ru-RU" sz="4000" spc="-1" strike="noStrike">
                <a:solidFill>
                  <a:schemeClr val="dk1"/>
                </a:solidFill>
                <a:latin typeface="Calibri"/>
                <a:ea typeface="Noto Sans CJK SC"/>
              </a:rPr>
              <a:t>Подсчет остатков изделий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Возможные трудности: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Плотное размещение изделий (сложно считать поштучно).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tabLst>
                <a:tab algn="l" pos="0"/>
              </a:tabLst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Перекрытия конрольных зон, риск двойного подсчета.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743040" indent="0" defTabSz="457200">
              <a:lnSpc>
                <a:spcPct val="100000"/>
              </a:lnSpc>
              <a:spcBef>
                <a:spcPts val="360"/>
              </a:spcBef>
              <a:buNone/>
              <a:tabLst>
                <a:tab algn="l" pos="0"/>
              </a:tabLst>
            </a:pP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7" name="" descr=""/>
          <p:cNvPicPr/>
          <p:nvPr/>
        </p:nvPicPr>
        <p:blipFill>
          <a:blip r:embed="rId1"/>
          <a:stretch/>
        </p:blipFill>
        <p:spPr>
          <a:xfrm>
            <a:off x="228600" y="3200400"/>
            <a:ext cx="4114800" cy="2660760"/>
          </a:xfrm>
          <a:prstGeom prst="rect">
            <a:avLst/>
          </a:prstGeom>
          <a:ln w="0">
            <a:noFill/>
          </a:ln>
        </p:spPr>
      </p:pic>
      <p:pic>
        <p:nvPicPr>
          <p:cNvPr id="68" name="" descr=""/>
          <p:cNvPicPr/>
          <p:nvPr/>
        </p:nvPicPr>
        <p:blipFill>
          <a:blip r:embed="rId2"/>
          <a:stretch/>
        </p:blipFill>
        <p:spPr>
          <a:xfrm>
            <a:off x="4572000" y="2743200"/>
            <a:ext cx="4114800" cy="1755720"/>
          </a:xfrm>
          <a:prstGeom prst="rect">
            <a:avLst/>
          </a:prstGeom>
          <a:ln w="0">
            <a:noFill/>
          </a:ln>
        </p:spPr>
      </p:pic>
      <p:pic>
        <p:nvPicPr>
          <p:cNvPr id="69" name="" descr=""/>
          <p:cNvPicPr/>
          <p:nvPr/>
        </p:nvPicPr>
        <p:blipFill>
          <a:blip r:embed="rId3"/>
          <a:stretch/>
        </p:blipFill>
        <p:spPr>
          <a:xfrm>
            <a:off x="4572000" y="4645080"/>
            <a:ext cx="4114800" cy="1755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ru-RU" sz="4000" spc="-1" strike="noStrike">
                <a:solidFill>
                  <a:schemeClr val="dk1"/>
                </a:solidFill>
                <a:latin typeface="Calibri"/>
                <a:ea typeface="Noto Sans CJK SC"/>
              </a:rPr>
              <a:t>Потенциальные задачи CV. </a:t>
            </a:r>
            <a:br>
              <a:rPr sz="4000"/>
            </a:br>
            <a:r>
              <a:rPr b="0" lang="ru-RU" sz="4000" spc="-1" strike="noStrike">
                <a:solidFill>
                  <a:schemeClr val="dk1"/>
                </a:solidFill>
                <a:latin typeface="Calibri"/>
              </a:rPr>
              <a:t>Контроль садки</a:t>
            </a:r>
            <a:endParaRPr b="0" lang="ru-RU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Бизнес-задача: Подсчет изделий перед загрузкой в печь обжига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marL="343080" indent="0" defTabSz="457200">
              <a:lnSpc>
                <a:spcPct val="100000"/>
              </a:lnSpc>
              <a:spcBef>
                <a:spcPts val="360"/>
              </a:spcBef>
              <a:buNone/>
            </a:pPr>
            <a:r>
              <a:rPr b="0" lang="ru-RU" sz="2000" spc="-1" strike="noStrike">
                <a:solidFill>
                  <a:schemeClr val="dk1"/>
                </a:solidFill>
                <a:latin typeface="Calibri"/>
              </a:rPr>
              <a:t>Задача CV: Детекция, классификация и подсчет изделий в потоке</a:t>
            </a:r>
            <a:endParaRPr b="0" lang="ru-RU" sz="2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0" defTabSz="457200">
              <a:lnSpc>
                <a:spcPct val="100000"/>
              </a:lnSpc>
              <a:spcBef>
                <a:spcPts val="1134"/>
              </a:spcBef>
              <a:buNone/>
            </a:pPr>
            <a:endParaRPr b="0" lang="ru-RU" sz="16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2" name="" descr=""/>
          <p:cNvPicPr/>
          <p:nvPr/>
        </p:nvPicPr>
        <p:blipFill>
          <a:blip r:embed="rId1"/>
          <a:stretch/>
        </p:blipFill>
        <p:spPr>
          <a:xfrm>
            <a:off x="1371600" y="2743200"/>
            <a:ext cx="6172200" cy="3001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pc="-1" strike="noStrike">
                <a:solidFill>
                  <a:schemeClr val="dk1"/>
                </a:solidFill>
                <a:latin typeface="Calibri"/>
              </a:rPr>
              <a:t>Цель и задачи работы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Цель: Разработать и экспериментально проверить методы CV для оперативной классификации и детектирования продуктов производства на примере контроля садки.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Основные задачи: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Проанализировать существующие подходы (обзор литературы).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Разработать методику сбора и разметки данных на производстве.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Собрать пилотный датасет и обучить модели детекции/классификации.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Оценить технические метрики и экономическую целесообразность.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" name="" descr=""/>
          <p:cNvPicPr/>
          <p:nvPr/>
        </p:nvPicPr>
        <p:blipFill>
          <a:blip r:embed="rId1"/>
          <a:stretch/>
        </p:blipFill>
        <p:spPr>
          <a:xfrm>
            <a:off x="1828800" y="4114800"/>
            <a:ext cx="5486400" cy="2359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4400" spc="-1" strike="noStrike">
                <a:solidFill>
                  <a:schemeClr val="dk1"/>
                </a:solidFill>
                <a:latin typeface="Calibri"/>
              </a:rPr>
              <a:t>Первоначальный обзор источников</a:t>
            </a:r>
            <a:endParaRPr b="0" lang="ru-RU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1. Deep Industrial Image Anomaly Detection: A Survey (2023)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Обзор подходов к обнаружений аномалий(дефектов) на изображениях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2. Towards Total Recall in Industrial Anomaly Detection (2022)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Автоматическое обнаружение дефектов в промышленном производстве в условиях «холодного старта» на MVTec AD датасете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marL="343080" indent="-34308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•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3. Drone-aided Detection of Weeds: Transfer Learning for Embedded Image Processing (2022)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Font typeface="Arial"/>
              <a:buChar char="–"/>
            </a:pPr>
            <a:r>
              <a:rPr b="0" lang="ru-RU" sz="1800" spc="-1" strike="noStrike">
                <a:solidFill>
                  <a:schemeClr val="dk1"/>
                </a:solidFill>
                <a:latin typeface="Calibri"/>
              </a:rPr>
              <a:t>В статье, в том числе, рассматривается hardware часть. Обоснование выбора архитектуры (SegNet, U-Net) и развёртывания модели непосредственно рядом с объектом анализа. </a:t>
            </a:r>
            <a:endParaRPr b="0" lang="ru-RU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545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cp:lastPrinted>2026-10-13T16:14:09Z</cp:lastPrinted>
  <dcterms:modified xsi:type="dcterms:W3CDTF">2026-10-13T16:16:32Z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